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4.png" ContentType="image/png"/>
  <Override PartName="/ppt/media/image5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11.png" ContentType="image/png"/>
  <Override PartName="/ppt/media/image1.jpeg" ContentType="image/jpe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Lucida Sans Unicode"/>
              </a:rPr>
              <a:t>Clique para mover o slide</a:t>
            </a: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9427588-3B9E-47CC-A797-CE37204DF7F5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7FF87B-9221-4EEA-8FAF-8924180E6EFD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2A3678-D4B3-4108-9F7D-396E9EA96F51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DB58BD-1BF0-469D-B569-35CAB115EE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9A119C-44DD-4DE6-90FB-07BE21389E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A6495-99EF-4663-A34B-D5C8C78C3A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5B2556-A6DD-4757-97F1-8C3CF803E5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F564E5-B8A3-419F-A9AC-9EE7CFEB6B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724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2DA234-B1BF-4F82-96A3-2BC41F14AD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D448F-F4FE-4D3E-9800-DB5C3DEC20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23196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C0C027-B166-4E11-8C8C-ED28AACA48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D793C-D1B8-4FD9-AE85-39DC7EA0FF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09480" y="384552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D4BD44-8376-4F34-89E8-A94BD3AF9B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23196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16DC95-915C-4182-83A6-45BB44BD66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31964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802980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/>
          </p:nvPr>
        </p:nvSpPr>
        <p:spPr>
          <a:xfrm>
            <a:off x="60948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/>
          </p:nvPr>
        </p:nvSpPr>
        <p:spPr>
          <a:xfrm>
            <a:off x="431964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/>
          </p:nvPr>
        </p:nvSpPr>
        <p:spPr>
          <a:xfrm>
            <a:off x="802980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6B8BF-DA8C-4E5F-8B2C-467C51C966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4E6795-4DC5-4F29-BBB7-04891254DB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DCC36-B875-4406-A3F7-DAA8DC8DB2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9AC537-BD07-4D7D-B89E-12F97CEC5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5F629E-51A7-483E-A9F4-AC63D64F53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4FE1BC-DCED-4859-BD97-59DF3D8C26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724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892B87-7935-4A9A-9DE1-4299B78AE3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E4D0FF-FCB4-4358-B12B-894C081BC1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23196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8A04DF-E0E6-4A23-A1B7-262CD984C7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79460F-FD39-44AB-968A-4F6B2F7BBC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09480" y="3845520"/>
            <a:ext cx="109724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141D6E-365E-46F3-B6F0-EC057B9C6D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48140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231960" y="3845520"/>
            <a:ext cx="535428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0A6D02-1043-4C72-83AF-B88502431E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0948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431964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8029800" y="148140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60948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/>
          </p:nvPr>
        </p:nvSpPr>
        <p:spPr>
          <a:xfrm>
            <a:off x="431964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/>
          </p:nvPr>
        </p:nvSpPr>
        <p:spPr>
          <a:xfrm>
            <a:off x="8029800" y="3845520"/>
            <a:ext cx="35330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388342-880C-4FFE-A120-8828552B70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orma livre 12" hidden="1"/>
          <p:cNvSpPr/>
          <p:nvPr/>
        </p:nvSpPr>
        <p:spPr>
          <a:xfrm>
            <a:off x="955080" y="5001840"/>
            <a:ext cx="5068800" cy="144288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" name="Forma livre 11" hidden="1"/>
          <p:cNvSpPr/>
          <p:nvPr/>
        </p:nvSpPr>
        <p:spPr>
          <a:xfrm>
            <a:off x="-71280" y="5785200"/>
            <a:ext cx="5068800" cy="83772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" name="Triângulo retângulo 13" hidden="1"/>
          <p:cNvSpPr/>
          <p:nvPr/>
        </p:nvSpPr>
        <p:spPr>
          <a:xfrm>
            <a:off x="-7920" y="5791320"/>
            <a:ext cx="4536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3" name="Conector reto 14"/>
          <p:cNvCxnSpPr/>
          <p:nvPr/>
        </p:nvCxnSpPr>
        <p:spPr>
          <a:xfrm>
            <a:off x="-12240" y="5787720"/>
            <a:ext cx="454068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4" name="Triângulo retângulo 9"/>
          <p:cNvSpPr/>
          <p:nvPr/>
        </p:nvSpPr>
        <p:spPr>
          <a:xfrm>
            <a:off x="0" y="4664160"/>
            <a:ext cx="12201120" cy="360"/>
          </a:xfrm>
          <a:prstGeom prst="rtTriangle">
            <a:avLst/>
          </a:prstGeom>
          <a:gradFill rotWithShape="0">
            <a:gsLst>
              <a:gs pos="0">
                <a:srgbClr val="007795"/>
              </a:gs>
              <a:gs pos="100000">
                <a:srgbClr val="4bbade"/>
              </a:gs>
            </a:gsLst>
            <a:lin ang="3000000"/>
          </a:grad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-44640" bIns="-4464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1752480"/>
            <a:ext cx="10362960" cy="182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algn="r">
              <a:lnSpc>
                <a:spcPct val="100000"/>
              </a:lnSpc>
              <a:buNone/>
            </a:pPr>
            <a:r>
              <a:rPr b="1" lang="pt-BR" sz="4800" spc="-1" strike="noStrike">
                <a:solidFill>
                  <a:srgbClr val="464646"/>
                </a:solidFill>
                <a:latin typeface="Lucida Sans Unicode"/>
              </a:rPr>
              <a:t>Clique para editar o estilo do </a:t>
            </a:r>
            <a:r>
              <a:rPr b="1" lang="pt-BR" sz="4800" spc="-1" strike="noStrike">
                <a:solidFill>
                  <a:srgbClr val="464646"/>
                </a:solidFill>
                <a:latin typeface="Lucida Sans Unicode"/>
              </a:rPr>
              <a:t>título mestre</a:t>
            </a:r>
            <a:endParaRPr b="0" lang="pt-BR" sz="4800" spc="-1" strike="noStrike">
              <a:solidFill>
                <a:srgbClr val="000000"/>
              </a:solidFill>
              <a:latin typeface="Lucida Sans Unicode"/>
            </a:endParaRPr>
          </a:p>
        </p:txBody>
      </p:sp>
      <p:grpSp>
        <p:nvGrpSpPr>
          <p:cNvPr id="6" name="Grupo 1"/>
          <p:cNvGrpSpPr/>
          <p:nvPr/>
        </p:nvGrpSpPr>
        <p:grpSpPr>
          <a:xfrm>
            <a:off x="-4680" y="4952880"/>
            <a:ext cx="12196440" cy="1911960"/>
            <a:chOff x="-4680" y="4952880"/>
            <a:chExt cx="12196440" cy="1911960"/>
          </a:xfrm>
        </p:grpSpPr>
        <p:sp>
          <p:nvSpPr>
            <p:cNvPr id="7" name="Forma livre 6"/>
            <p:cNvSpPr/>
            <p:nvPr/>
          </p:nvSpPr>
          <p:spPr>
            <a:xfrm>
              <a:off x="2250000" y="4952880"/>
              <a:ext cx="9941760" cy="487800"/>
            </a:xfrm>
            <a:custGeom>
              <a:avLst/>
              <a:gdLst/>
              <a:ahLst/>
              <a:rect l="l" t="t" r="r" b="b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Lucida Sans Unicode"/>
              </a:endParaRPr>
            </a:p>
          </p:txBody>
        </p:sp>
        <p:sp>
          <p:nvSpPr>
            <p:cNvPr id="8" name="Forma livre 7"/>
            <p:cNvSpPr/>
            <p:nvPr/>
          </p:nvSpPr>
          <p:spPr>
            <a:xfrm>
              <a:off x="47160" y="5237640"/>
              <a:ext cx="12144240" cy="788400"/>
            </a:xfrm>
            <a:custGeom>
              <a:avLst/>
              <a:gdLst/>
              <a:ahLst/>
              <a:rect l="l" t="t" r="r" b="b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Lucida Sans Unicode"/>
              </a:endParaRPr>
            </a:p>
          </p:txBody>
        </p:sp>
        <p:sp>
          <p:nvSpPr>
            <p:cNvPr id="9" name="Forma livre 10"/>
            <p:cNvSpPr/>
            <p:nvPr/>
          </p:nvSpPr>
          <p:spPr>
            <a:xfrm>
              <a:off x="0" y="5001120"/>
              <a:ext cx="12191760" cy="1863720"/>
            </a:xfrm>
            <a:custGeom>
              <a:avLst/>
              <a:gdLst/>
              <a:ahLst/>
              <a:rect l="l" t="t" r="r" b="b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alphaModFix amt="50000"/>
              </a:blip>
              <a:srcRect/>
              <a:tile tx="0" ty="0" sx="50000" sy="50000" algn="t"/>
            </a:blipFill>
            <a:ln w="12700">
              <a:noFill/>
            </a:ln>
            <a:effectLst>
              <a:outerShdw blurRad="50760" dir="5400000" dist="38160" rotWithShape="0">
                <a:srgbClr val="000000">
                  <a:alpha val="35000"/>
                </a:srgb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Lucida Sans Unicode"/>
              </a:endParaRPr>
            </a:p>
          </p:txBody>
        </p:sp>
        <p:cxnSp>
          <p:nvCxnSpPr>
            <p:cNvPr id="10" name="Conector reto 11"/>
            <p:cNvCxnSpPr/>
            <p:nvPr/>
          </p:nvCxnSpPr>
          <p:spPr>
            <a:xfrm>
              <a:off x="-4680" y="4997520"/>
              <a:ext cx="12196800" cy="790560"/>
            </a:xfrm>
            <a:prstGeom prst="straightConnector1">
              <a:avLst/>
            </a:prstGeom>
            <a:ln w="12065">
              <a:solidFill>
                <a:srgbClr val="196f85"/>
              </a:solidFill>
              <a:miter/>
            </a:ln>
          </p:spPr>
        </p:cxnSp>
      </p:grp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8969400" y="6408000"/>
            <a:ext cx="255996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>
              <a:lnSpc>
                <a:spcPct val="100000"/>
              </a:lnSpc>
              <a:buNone/>
              <a:defRPr b="0" lang="pt-BR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000" spc="-1" strike="noStrike">
                <a:solidFill>
                  <a:srgbClr val="ffffff"/>
                </a:solidFill>
                <a:latin typeface="Lucida Sans Unicode"/>
              </a:rPr>
              <a:t>&lt;data/hora&gt;</a:t>
            </a:r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5839920" y="6408000"/>
            <a:ext cx="3133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11529720" y="6408000"/>
            <a:ext cx="487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F10BFA-4E16-49DD-8A29-109B82FF166B}" type="slidenum">
              <a:rPr b="0" lang="pt-BR" sz="1000" spc="-1" strike="noStrike">
                <a:solidFill>
                  <a:srgbClr val="ffffff"/>
                </a:solidFill>
                <a:latin typeface="Lucida Sans Unicode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Clique para editar o formato de texto dos tópicos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Lucida Sans Unicode"/>
              </a:rPr>
              <a:t>2.º nível de tópicos</a:t>
            </a:r>
            <a:endParaRPr b="0" lang="pt-BR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900" spc="-1" strike="noStrike">
                <a:solidFill>
                  <a:srgbClr val="000000"/>
                </a:solidFill>
                <a:latin typeface="Lucida Sans Unicode"/>
              </a:rPr>
              <a:t>3.º nível de tópicos</a:t>
            </a:r>
            <a:endParaRPr b="0" lang="pt-BR" sz="19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Lucida Sans Unicode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Lucida Sans Unicode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Lucida Sans Unicode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Lucida Sans Unicode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vre 12"/>
          <p:cNvSpPr/>
          <p:nvPr/>
        </p:nvSpPr>
        <p:spPr>
          <a:xfrm>
            <a:off x="955080" y="5001840"/>
            <a:ext cx="5068800" cy="144288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2" name="Forma livre 11"/>
          <p:cNvSpPr/>
          <p:nvPr/>
        </p:nvSpPr>
        <p:spPr>
          <a:xfrm>
            <a:off x="-71280" y="5785200"/>
            <a:ext cx="5068800" cy="837720"/>
          </a:xfrm>
          <a:custGeom>
            <a:avLst/>
            <a:gdLst/>
            <a:ahLst/>
            <a:rect l="l" t="t" r="r" b="b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3" name="Triângulo retângulo 13"/>
          <p:cNvSpPr/>
          <p:nvPr/>
        </p:nvSpPr>
        <p:spPr>
          <a:xfrm>
            <a:off x="-7920" y="5791320"/>
            <a:ext cx="4536000" cy="1080360"/>
          </a:xfrm>
          <a:prstGeom prst="rtTriangle">
            <a:avLst/>
          </a:prstGeom>
          <a:blipFill rotWithShape="0">
            <a:blip r:embed="rId2">
              <a:alphaModFix amt="50000"/>
            </a:blip>
            <a:srcRect/>
            <a:tile tx="0" ty="0" sx="50000" sy="50000" algn="t"/>
          </a:blipFill>
          <a:ln w="12700">
            <a:noFill/>
          </a:ln>
          <a:effectLst>
            <a:outerShdw blurRad="50760" dir="5400000" dist="38160" rotWithShape="0">
              <a:srgbClr val="000000">
                <a:alpha val="3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Lucida Sans Unicode"/>
            </a:endParaRPr>
          </a:p>
        </p:txBody>
      </p:sp>
      <p:cxnSp>
        <p:nvCxnSpPr>
          <p:cNvPr id="54" name="Conector reto 14"/>
          <p:cNvCxnSpPr/>
          <p:nvPr/>
        </p:nvCxnSpPr>
        <p:spPr>
          <a:xfrm>
            <a:off x="-12240" y="5787720"/>
            <a:ext cx="4540680" cy="1084680"/>
          </a:xfrm>
          <a:prstGeom prst="straightConnector1">
            <a:avLst/>
          </a:prstGeom>
          <a:ln w="12065">
            <a:solidFill>
              <a:srgbClr val="196f85"/>
            </a:solidFill>
            <a:miter/>
          </a:ln>
        </p:spPr>
      </p:cxnSp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Clique para editar os estilos do texto mestre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1720" indent="-228600">
              <a:lnSpc>
                <a:spcPct val="100000"/>
              </a:lnSpc>
              <a:spcBef>
                <a:spcPts val="323"/>
              </a:spcBef>
              <a:buClr>
                <a:srgbClr val="2da2bf"/>
              </a:buClr>
              <a:buFont typeface="Verdana"/>
              <a:buChar char="◦"/>
            </a:pPr>
            <a:r>
              <a:rPr b="0" lang="pt-BR" sz="2300" spc="-1" strike="noStrike">
                <a:solidFill>
                  <a:srgbClr val="000000"/>
                </a:solidFill>
                <a:latin typeface="Lucida Sans Unicode"/>
              </a:rPr>
              <a:t>Segundo nível</a:t>
            </a:r>
            <a:endParaRPr b="0" lang="pt-BR" sz="23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968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pt-BR" sz="2100" spc="-1" strike="noStrike">
                <a:solidFill>
                  <a:srgbClr val="000000"/>
                </a:solidFill>
                <a:latin typeface="Lucida Sans Unicode"/>
              </a:rPr>
              <a:t>Terceiro nível</a:t>
            </a:r>
            <a:endParaRPr b="0" lang="pt-BR" sz="21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pt-BR" sz="1900" spc="-1" strike="noStrike">
                <a:solidFill>
                  <a:srgbClr val="000000"/>
                </a:solidFill>
                <a:latin typeface="Lucida Sans Unicode"/>
              </a:rPr>
              <a:t>Quarto nível</a:t>
            </a:r>
            <a:endParaRPr b="0" lang="pt-BR" sz="19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lnSpc>
                <a:spcPct val="100000"/>
              </a:lnSpc>
              <a:spcBef>
                <a:spcPts val="349"/>
              </a:spcBef>
              <a:buClr>
                <a:srgbClr val="da1f28"/>
              </a:buClr>
              <a:buFont typeface="Wingdings 2" charset="2"/>
              <a:buChar char=""/>
            </a:pPr>
            <a:r>
              <a:rPr b="0" lang="pt-BR" sz="1800" spc="-1" strike="noStrike">
                <a:solidFill>
                  <a:srgbClr val="000000"/>
                </a:solidFill>
                <a:latin typeface="Lucida Sans Unicode"/>
              </a:rPr>
              <a:t>Quinto nível</a:t>
            </a:r>
            <a:endParaRPr b="0" lang="pt-BR" sz="18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4"/>
          </p:nvPr>
        </p:nvSpPr>
        <p:spPr>
          <a:xfrm>
            <a:off x="8969400" y="6408000"/>
            <a:ext cx="2559960" cy="36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>
              <a:lnSpc>
                <a:spcPct val="100000"/>
              </a:lnSpc>
              <a:buNone/>
              <a:defRPr b="0" lang="pt-BR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pt-BR" sz="1000" spc="-1" strike="noStrike">
                <a:solidFill>
                  <a:srgbClr val="000000"/>
                </a:solidFill>
                <a:latin typeface="Lucida Sans Unicode"/>
              </a:rPr>
              <a:t>&lt;data/hora&gt;</a:t>
            </a:r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5"/>
          </p:nvPr>
        </p:nvSpPr>
        <p:spPr>
          <a:xfrm>
            <a:off x="5839920" y="6408000"/>
            <a:ext cx="31338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6"/>
          </p:nvPr>
        </p:nvSpPr>
        <p:spPr>
          <a:xfrm>
            <a:off x="11529720" y="6408000"/>
            <a:ext cx="4874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pt-BR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6A1D31-C6FD-40C5-996F-7E3B04F0B3A8}" type="slidenum">
              <a:rPr b="0" lang="pt-BR" sz="1000" spc="-1" strike="noStrike">
                <a:solidFill>
                  <a:srgbClr val="000000"/>
                </a:solidFill>
                <a:latin typeface="Lucida Sans Unicode"/>
              </a:rPr>
              <a:t>&lt;número&gt;</a:t>
            </a:fld>
            <a:endParaRPr b="0" lang="pt-BR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Clique para editar o estilo </a:t>
            </a: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do título mestre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00000" y="1980000"/>
            <a:ext cx="10362960" cy="182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408240"/>
              </a:tabLst>
            </a:pPr>
            <a:r>
              <a:rPr b="1" lang="pt-BR" sz="2600" spc="-1" strike="noStrike">
                <a:solidFill>
                  <a:srgbClr val="464646"/>
                </a:solidFill>
                <a:latin typeface="Lucida Sans Unicode"/>
              </a:rPr>
              <a:t>DESENVOLVIMENTO DE UM MURAL ELETRÔNICO EM TEMPO REAL PARA GESTÃO DE PRAZOS ACADÊMICOS COM WEBSOCKET</a:t>
            </a:r>
            <a:endParaRPr b="0" lang="pt-BR" sz="26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1055520" y="4365000"/>
            <a:ext cx="10362960" cy="1199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000" bIns="45000" anchor="t">
            <a:noAutofit/>
          </a:bodyPr>
          <a:p>
            <a:pPr indent="0" algn="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t-BR" sz="2700" spc="-1" strike="noStrike">
                <a:solidFill>
                  <a:srgbClr val="464646"/>
                </a:solidFill>
                <a:latin typeface="Lucida Sans Unicode"/>
              </a:rPr>
              <a:t>Wilcker Richard Sierra Neckel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m 3" descr="brasao_unemat_cor"/>
          <p:cNvPicPr/>
          <p:nvPr/>
        </p:nvPicPr>
        <p:blipFill>
          <a:blip r:embed="rId1"/>
          <a:stretch/>
        </p:blipFill>
        <p:spPr>
          <a:xfrm>
            <a:off x="9840240" y="312840"/>
            <a:ext cx="1314360" cy="1414440"/>
          </a:xfrm>
          <a:prstGeom prst="rect">
            <a:avLst/>
          </a:prstGeom>
          <a:ln w="0">
            <a:noFill/>
          </a:ln>
        </p:spPr>
      </p:pic>
      <p:sp>
        <p:nvSpPr>
          <p:cNvPr id="105" name="Retângulo 8"/>
          <p:cNvSpPr/>
          <p:nvPr/>
        </p:nvSpPr>
        <p:spPr>
          <a:xfrm>
            <a:off x="1825200" y="287640"/>
            <a:ext cx="8541000" cy="19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2400" spc="-1" strike="noStrike">
                <a:solidFill>
                  <a:srgbClr val="000000"/>
                </a:solidFill>
                <a:latin typeface="Bell MT"/>
              </a:rPr>
              <a:t>UNIVERSIDADE DO ESTADO DE MATO GROSSO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Bell MT"/>
              </a:rPr>
              <a:t>CAMPUS UNIVERSITÁRIO DEP. EST. RENÊ BARBOUR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Bell MT"/>
              </a:rPr>
              <a:t>FACULDADE DE CIÊNCIAS EXATAS E TECNOLÓGICAS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Bell MT"/>
              </a:rPr>
              <a:t>CURSO DE CIÊNCIA DA COMPUTAÇÃO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pt-BR" sz="2000" spc="-1" strike="noStrike">
                <a:solidFill>
                  <a:srgbClr val="000000"/>
                </a:solidFill>
                <a:latin typeface="Bell MT"/>
              </a:rPr>
              <a:t>RELATÓRIO FINAL DE ESTÁGIO SUPERVISIONADO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Figura1" descr=""/>
          <p:cNvPicPr/>
          <p:nvPr/>
        </p:nvPicPr>
        <p:blipFill>
          <a:blip r:embed="rId2"/>
          <a:stretch/>
        </p:blipFill>
        <p:spPr>
          <a:xfrm>
            <a:off x="695520" y="287640"/>
            <a:ext cx="1530000" cy="15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Introdução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Objetivo Geral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Atividade desenvolvidas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Sugestões e recomendação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Considerações Finais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Referência Bibliográficas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Roteiro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Proposta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Wise inovação, remoto.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Motivo da escolha do tema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Principais atividades desenvolvidas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Análise de requisitos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Definição da identidade visual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Prototipação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Desenvolvimento do projeto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None/>
            </a:pP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INTRODUÇÃO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Desenvolver um sistema web para gestão de prazos acadêmicos,utilizando um quadro Kanban interativo e comunicação em tempo real via WebSocket, de modo a permitir que alunos e professores organizem atividades, tarefas e disciplinas de forma dinâmica, sincronizada e centralizada.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OBJETIVO GERAL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Levantamento de requisitos e análise das </a:t>
            </a: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necessidades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Estudo de tecnologias e seleção do conjunto técnico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Estruturação do ambiente de desenvolvimento e </a:t>
            </a: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versionamento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Modelagem de dados e preparação da base do </a:t>
            </a: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sistema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Organização, planejamento e acompanhamento das </a:t>
            </a: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atividades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720000" y="1417320"/>
            <a:ext cx="5040000" cy="235908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6300000" y="1346760"/>
            <a:ext cx="4883400" cy="405324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3"/>
          <a:stretch/>
        </p:blipFill>
        <p:spPr>
          <a:xfrm>
            <a:off x="720000" y="3960000"/>
            <a:ext cx="5040000" cy="190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Pesquisa visual e definição da identidade gráfica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Criação da logomarca e composição visual no Figma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Prototipação das telas do aluno e professor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Início da implementação do front-end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1" lang="pt-BR" sz="2700" spc="-1" strike="noStrike">
                <a:solidFill>
                  <a:srgbClr val="000000"/>
                </a:solidFill>
                <a:latin typeface="Lucida Sans Unicode"/>
              </a:rPr>
              <a:t>Início da implementação do back-end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0000" y="1919520"/>
            <a:ext cx="3423960" cy="402048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3060000" y="2520000"/>
            <a:ext cx="1311840" cy="12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6300000" y="1620000"/>
            <a:ext cx="5081760" cy="360000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2"/>
          <a:stretch/>
        </p:blipFill>
        <p:spPr>
          <a:xfrm>
            <a:off x="720000" y="1620000"/>
            <a:ext cx="538632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Estruturação inicial do backend e integração com o banco de dados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Implementação de autenticação e rotas iniciais de CRUD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Expansão das entidades do sistema e tratamento padronizado de erros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Lucida Sans Unicode"/>
              </a:rPr>
              <a:t>Professor, disciplina, aluno, tarefa, coluna.</a:t>
            </a:r>
            <a:endParaRPr b="0" lang="pt-BR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Integração entre frontend e backend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Documentação da API e implementação da tela de login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Testes finais, ajustes gerais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5400000" y="1620000"/>
            <a:ext cx="6356160" cy="342000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2"/>
          <a:stretch/>
        </p:blipFill>
        <p:spPr>
          <a:xfrm>
            <a:off x="360000" y="1795320"/>
            <a:ext cx="4868280" cy="306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ATIVIDADES DESENVOLVIDAS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300000" y="1620000"/>
            <a:ext cx="4536360" cy="396000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1975320" y="1620000"/>
            <a:ext cx="3424680" cy="3930840"/>
          </a:xfrm>
          <a:prstGeom prst="rect">
            <a:avLst/>
          </a:prstGeom>
          <a:ln w="0">
            <a:noFill/>
          </a:ln>
        </p:spPr>
      </p:pic>
      <p:sp>
        <p:nvSpPr>
          <p:cNvPr id="135" name=""/>
          <p:cNvSpPr/>
          <p:nvPr/>
        </p:nvSpPr>
        <p:spPr>
          <a:xfrm flipV="1">
            <a:off x="7020000" y="5400000"/>
            <a:ext cx="900000" cy="900000"/>
          </a:xfrm>
          <a:prstGeom prst="line">
            <a:avLst/>
          </a:prstGeom>
          <a:ln w="36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/>
          </p:nvPr>
        </p:nvSpPr>
        <p:spPr>
          <a:xfrm>
            <a:off x="609480" y="14814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Sugestão: espaço organizacional centralizado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Integração com SIGAA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Notificação de novas tarefas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Módulo de métricas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Expansão para um sistema mobile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SUGESTÕES E RECOMENDAÇÕES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/>
          </p:nvPr>
        </p:nvSpPr>
        <p:spPr>
          <a:xfrm>
            <a:off x="540000" y="1481400"/>
            <a:ext cx="1122192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Objetivos cumpridos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Desenvolvimento de habilidades técnicas de programação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Lucida Sans Unicode"/>
              </a:rPr>
              <a:t>Frontend, backend, banco de dados, APIs, websocket</a:t>
            </a:r>
            <a:endParaRPr b="0" lang="pt-BR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Desenvolvimento de práticas de engenharia de software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100" spc="-1" strike="noStrike">
                <a:solidFill>
                  <a:srgbClr val="000000"/>
                </a:solidFill>
                <a:latin typeface="Lucida Sans Unicode"/>
              </a:rPr>
              <a:t>Arquiteturas de APIs, modelagem de banco de dados, versionamento, design de interfaces, testes gerais, documentação.</a:t>
            </a:r>
            <a:endParaRPr b="0" lang="pt-BR" sz="21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Práticas organizacionais e metodológicas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Contato pleno com pessoas da área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spcBef>
                <a:spcPts val="1417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2700" spc="-1" strike="noStrike">
                <a:solidFill>
                  <a:srgbClr val="000000"/>
                </a:solidFill>
                <a:latin typeface="Lucida Sans Unicode"/>
              </a:rPr>
              <a:t>Possibilidade de uso do sistema pela comunidade acadêmica</a:t>
            </a:r>
            <a:endParaRPr b="0" lang="pt-BR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CONSIDERAÇÕES FINAIS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/>
          </p:nvPr>
        </p:nvSpPr>
        <p:spPr>
          <a:xfrm>
            <a:off x="720000" y="141732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AXIOS. Axios Documentation. Disponível em: https://axios-http.com/docs/intro. Acesso em: 21 jul.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CANVA. Design with Canva. Disponível em: https://www.canva.com/. Acesso em: 5 out.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DOCKER. Docker Documentation. Disponível em: https://docs.docker.com. Acesso em: 12 set.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FASTIFY. Fastify Documentation. Disponível em: https://fastify.dev. Acesso em: 18 ago. 2025.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FIGMA. Figma Documentation. Disponível em: https://help.figma.com. Acesso em: 30 mar. 2025.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GIT. Git Documentation. Disponível em: https://git-scm.com/doc. Acesso em: 14 ago.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GITHUB. GitHub Docs. Disponível em: https://docs.github.com. Acesso em: 2 nov.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MONGODB. MongoDB Manual. Disponível em: https://www.mongodb.com/docs. Acesso em: 3 ago.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META. React Documentation. Disponível em: https://react.dev. Acesso em: 19 mar. 2025.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NODE.JS FOUNDATION. Node.js Documentation. Disponível em: https://nodejs.org/en/docs. Acesso em: 22 jul.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OPENAPI INITIATIVE. OpenAPI Specification Documentation. Disponível em: https://swagger.io/specification. Acesso em: 11 ago. 2025.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  <a:p>
            <a:pPr marL="365760" indent="-25596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</a:pPr>
            <a:r>
              <a:rPr b="0" lang="pt-BR" sz="1600" spc="-1" strike="noStrike">
                <a:solidFill>
                  <a:srgbClr val="000000"/>
                </a:solidFill>
                <a:latin typeface="Lucida Sans Unicode"/>
              </a:rPr>
              <a:t>PROJECT MANAGEMENT INSTITUTE. Kanban in Project Management. Disponível em: https://www.pmi.org/learning/library/kanban-project-management-11790. Acesso em: 8 set. 2024.</a:t>
            </a:r>
            <a:endParaRPr b="0" lang="pt-BR" sz="16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pt-BR" sz="4100" spc="-1" strike="noStrike">
                <a:solidFill>
                  <a:srgbClr val="464646"/>
                </a:solidFill>
                <a:latin typeface="Lucida Sans Unicode"/>
              </a:rPr>
              <a:t>REFERÊNCIAS BIBLIOGRÁFICAS</a:t>
            </a:r>
            <a:endParaRPr b="0" lang="pt-BR" sz="4100" spc="-1" strike="noStrike">
              <a:solidFill>
                <a:srgbClr val="000000"/>
              </a:solidFill>
              <a:latin typeface="Lucida Sans Unicod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138</TotalTime>
  <Application>LibreOffice/7.4.7.2$Linux_X86_64 LibreOffice_project/40$Build-2</Application>
  <AppVersion>15.0000</AppVersion>
  <Words>79</Words>
  <Paragraphs>29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2011-06-01T02:00:05Z</dcterms:created>
  <dc:creator>Fernandes</dc:creator>
  <dc:description/>
  <dc:language>pt-BR</dc:language>
  <cp:lastModifiedBy/>
  <dcterms:modified xsi:type="dcterms:W3CDTF">2025-12-02T20:35:21Z</dcterms:modified>
  <cp:revision>14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Widescreen</vt:lpwstr>
  </property>
  <property fmtid="{D5CDD505-2E9C-101B-9397-08002B2CF9AE}" pid="4" name="Slides">
    <vt:i4>10</vt:i4>
  </property>
</Properties>
</file>